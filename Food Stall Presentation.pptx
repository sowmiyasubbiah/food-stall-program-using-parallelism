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175" indent="-182880" algn="l" defTabSz="914400" rtl="0" eaLnBrk="1" latinLnBrk="0" hangingPunct="1">
        <a:lnSpc>
          <a:spcPct val="120000"/>
        </a:lnSpc>
        <a:spcBef>
          <a:spcPts val="200"/>
        </a:spcBef>
        <a:spcAft>
          <a:spcPts val="400"/>
        </a:spcAft>
        <a:buClrTx/>
        <a:buFont typeface="Calibri" panose="020F0502020204030204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7055" indent="-182880" algn="l" defTabSz="914400" rtl="0" eaLnBrk="1" latinLnBrk="0" hangingPunct="1">
        <a:lnSpc>
          <a:spcPct val="120000"/>
        </a:lnSpc>
        <a:spcBef>
          <a:spcPts val="200"/>
        </a:spcBef>
        <a:spcAft>
          <a:spcPts val="400"/>
        </a:spcAft>
        <a:buClrTx/>
        <a:buFont typeface="Calibri" panose="020F0502020204030204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935" indent="-182880" algn="l" defTabSz="914400" rtl="0" eaLnBrk="1" latinLnBrk="0" hangingPunct="1">
        <a:lnSpc>
          <a:spcPct val="120000"/>
        </a:lnSpc>
        <a:spcBef>
          <a:spcPts val="200"/>
        </a:spcBef>
        <a:spcAft>
          <a:spcPts val="400"/>
        </a:spcAft>
        <a:buClrTx/>
        <a:buFont typeface="Calibri" panose="020F0502020204030204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815" indent="-182880" algn="l" defTabSz="914400" rtl="0" eaLnBrk="1" latinLnBrk="0" hangingPunct="1">
        <a:lnSpc>
          <a:spcPct val="120000"/>
        </a:lnSpc>
        <a:spcBef>
          <a:spcPts val="200"/>
        </a:spcBef>
        <a:spcAft>
          <a:spcPts val="400"/>
        </a:spcAft>
        <a:buClrTx/>
        <a:buFont typeface="Calibri" panose="020F0502020204030204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09982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299845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49987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699895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" name="Rectangle 7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5760" y="567210"/>
            <a:ext cx="6814033" cy="272273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5400" b="1" dirty="0">
                <a:solidFill>
                  <a:schemeClr val="tx1"/>
                </a:solidFill>
                <a:latin typeface="Garamond" panose="02020404030301010803"/>
                <a:ea typeface="+mj-lt"/>
                <a:cs typeface="+mj-lt"/>
              </a:rPr>
              <a:t>MULTITHREADING AND PARALLELISM IN JAVA</a:t>
            </a:r>
            <a:endParaRPr lang="en-US" sz="5400" b="1">
              <a:solidFill>
                <a:schemeClr val="tx1"/>
              </a:solidFill>
              <a:latin typeface="Garamond" panose="02020404030301010803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1616" y="5592890"/>
            <a:ext cx="6269347" cy="116527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lang="en-GB" sz="3200" dirty="0">
                <a:latin typeface="Garamond" panose="02020404030301010803"/>
                <a:ea typeface="+mn-lt"/>
                <a:cs typeface="+mn-lt"/>
              </a:rPr>
              <a:t>           PRESENTED BY</a:t>
            </a:r>
            <a:endParaRPr lang="en-US" sz="3200">
              <a:latin typeface="Garamond" panose="02020404030301010803"/>
            </a:endParaRPr>
          </a:p>
          <a:p>
            <a:pPr>
              <a:lnSpc>
                <a:spcPct val="110000"/>
              </a:lnSpc>
            </a:pPr>
            <a:r>
              <a:rPr lang="en-GB" sz="3200" dirty="0">
                <a:latin typeface="Garamond" panose="02020404030301010803"/>
                <a:ea typeface="+mn-lt"/>
                <a:cs typeface="+mn-lt"/>
              </a:rPr>
              <a:t>        SOWMIYA SUBBIAH</a:t>
            </a:r>
            <a:endParaRPr lang="en-GB" sz="3200" dirty="0">
              <a:latin typeface="Garamond" panose="02020404030301010803"/>
            </a:endParaRPr>
          </a:p>
          <a:p>
            <a:pPr>
              <a:lnSpc>
                <a:spcPct val="110000"/>
              </a:lnSpc>
            </a:pPr>
            <a:endParaRPr lang="en-GB" sz="3200" dirty="0">
              <a:latin typeface="Garamond" panose="02020404030301010803"/>
            </a:endParaRPr>
          </a:p>
        </p:txBody>
      </p:sp>
      <p:cxnSp>
        <p:nvCxnSpPr>
          <p:cNvPr id="76" name="Straight Connector 75"/>
          <p:cNvCxnSpPr>
            <a:cxnSpLocks noGrp="1" noRot="1" noChangeAspect="1" noMove="1" noResize="1" noEditPoints="1" noAdjustHandles="1" noChangeArrowheads="1" noChangeShapeType="1"/>
          </p:cNvCxnSpPr>
          <p:nvPr/>
        </p:nvCxnSpPr>
        <p:spPr>
          <a:xfrm>
            <a:off x="744179" y="4498925"/>
            <a:ext cx="5636107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Coloured pencils inside a pencil holder which is on top of a wood table"/>
          <p:cNvPicPr>
            <a:picLocks noChangeAspect="1"/>
          </p:cNvPicPr>
          <p:nvPr/>
        </p:nvPicPr>
        <p:blipFill rotWithShape="1">
          <a:blip r:embed="rId1"/>
          <a:srcRect l="49631" r="5252" b="-2"/>
          <a:stretch>
            <a:fillRect/>
          </a:stretch>
        </p:blipFill>
        <p:spPr>
          <a:xfrm>
            <a:off x="7556686" y="1"/>
            <a:ext cx="4635315" cy="6857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Garamond" panose="02020404030301010803"/>
                <a:ea typeface="+mj-lt"/>
                <a:cs typeface="+mj-lt"/>
              </a:rPr>
              <a:t>AGENDA</a:t>
            </a:r>
            <a:endParaRPr lang="en-US" b="1">
              <a:solidFill>
                <a:schemeClr val="bg1"/>
              </a:solidFill>
              <a:latin typeface="Garamond" panose="02020404030301010803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699" y="2388147"/>
            <a:ext cx="10058400" cy="4012803"/>
          </a:xfrm>
        </p:spPr>
        <p:txBody>
          <a:bodyPr vert="horz" lIns="0" tIns="45720" rIns="0" bIns="45720" rtlCol="0" anchor="t">
            <a:noAutofit/>
          </a:bodyPr>
          <a:lstStyle/>
          <a:p>
            <a:pPr>
              <a:lnSpc>
                <a:spcPct val="110000"/>
              </a:lnSpc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MULTITHREADING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PARALLELISM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THREADS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CREATION AND RUNNING OF THREADS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ORDERING OF FOOD IN STALLS BY CUSTOMERS (Program Explanation)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ADVANTAGES AND DISADVANTAGES OF THE PROJECT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CODE SNIPPET OF THE PROJECT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OUTPUT OF THE PROJECT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Rectangle 2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rgbClr val="FFFFFF"/>
                </a:solidFill>
                <a:latin typeface="Garamond" panose="02020404030301010803"/>
                <a:ea typeface="+mj-lt"/>
                <a:cs typeface="+mj-lt"/>
              </a:rPr>
              <a:t>MULTITHREADING</a:t>
            </a:r>
            <a:endParaRPr lang="en-US" b="1" dirty="0">
              <a:solidFill>
                <a:srgbClr val="FFFFFF"/>
              </a:solidFill>
              <a:latin typeface="Garamond" panose="02020404030301010803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2675694"/>
            <a:ext cx="10058400" cy="3193294"/>
          </a:xfrm>
        </p:spPr>
        <p:txBody>
          <a:bodyPr vert="horz" lIns="0" tIns="45720" rIns="0" bIns="45720" rtlCol="0" anchor="t">
            <a:normAutofit/>
          </a:bodyPr>
          <a:lstStyle/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Multithreading is a programming concept in which the application can create a small unit of tasks to execute in parallel or concurrent. 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It is the ability to execute multiple threads independently at the same time but share the process resources simultaneously.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It will make the execution of the program fast and easy.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Java has great support for multithreaded applications. Java supports multithreading through Thread class.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8" name="Rectangle 7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rgbClr val="FFFFFF"/>
                </a:solidFill>
                <a:latin typeface="Garamond" panose="02020404030301010803"/>
                <a:ea typeface="+mj-lt"/>
                <a:cs typeface="+mj-lt"/>
              </a:rPr>
              <a:t>PARALLELISM</a:t>
            </a:r>
            <a:endParaRPr lang="en-US" b="1" dirty="0">
              <a:solidFill>
                <a:srgbClr val="FFFFFF"/>
              </a:solidFill>
              <a:latin typeface="Garamond" panose="02020404030301010803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2675694"/>
            <a:ext cx="10058400" cy="3193294"/>
          </a:xfrm>
        </p:spPr>
        <p:txBody>
          <a:bodyPr vert="horz" lIns="0" tIns="45720" rIns="0" bIns="45720" rtlCol="0" anchor="t">
            <a:normAutofit/>
          </a:bodyPr>
          <a:lstStyle/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Parallelism is the ability to execute independent tasks of a program in the same instant of time.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Each thread can run on a separate process at the same time, using a number of resources resulting in parallel execution.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This is only applicable when we have more than one thread.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Rectangle 2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rgbClr val="FFFFFF"/>
                </a:solidFill>
                <a:latin typeface="Garamond" panose="02020404030301010803"/>
                <a:ea typeface="+mj-lt"/>
                <a:cs typeface="+mj-lt"/>
              </a:rPr>
              <a:t>THREADS</a:t>
            </a:r>
            <a:endParaRPr lang="en-US" b="1" dirty="0">
              <a:solidFill>
                <a:srgbClr val="FFFFFF"/>
              </a:solidFill>
              <a:latin typeface="Garamond" panose="02020404030301010803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2" y="2287505"/>
            <a:ext cx="11093569" cy="4573520"/>
          </a:xfrm>
        </p:spPr>
        <p:txBody>
          <a:bodyPr vert="horz" lIns="0" tIns="45720" rIns="0" bIns="45720" rtlCol="0" anchor="t">
            <a:noAutofit/>
          </a:bodyPr>
          <a:lstStyle/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Threads in Java is a lightweight process that allows multiple tasks to be executed simultaneously within a single program. 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We can create multiple threads in single process and each thread is independent of the other. 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Threads used to achieve parallelism and improve performance and responsiveness.</a:t>
            </a:r>
            <a:endParaRPr lang="en-GB" sz="2000">
              <a:solidFill>
                <a:schemeClr val="tx1"/>
              </a:solidFill>
              <a:latin typeface="Arial" panose="020B0604020202020204"/>
              <a:ea typeface="+mn-lt"/>
              <a:cs typeface="Arial" panose="020B0604020202020204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  It has two types: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User Threads – High priority threads. The JVM will wait for any user thread to complete its task before terminating it.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Daemon Threads – Low priority threads, whose only role is to provide services to user threads.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rgbClr val="FFFFFF"/>
                </a:solidFill>
                <a:latin typeface="Garamond" panose="02020404030301010803"/>
                <a:ea typeface="+mj-lt"/>
                <a:cs typeface="+mj-lt"/>
              </a:rPr>
              <a:t>CREATION AND RUNNING OF THREADS</a:t>
            </a:r>
            <a:endParaRPr lang="en-US" b="1" dirty="0">
              <a:solidFill>
                <a:srgbClr val="FFFFFF"/>
              </a:solidFill>
              <a:latin typeface="Garamond" panose="02020404030301010803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6321" y="2143731"/>
            <a:ext cx="11093569" cy="4487256"/>
          </a:xfrm>
        </p:spPr>
        <p:txBody>
          <a:bodyPr vert="horz" lIns="0" tIns="45720" rIns="0" bIns="45720" rtlCol="0" anchor="t">
            <a:noAutofit/>
          </a:bodyPr>
          <a:lstStyle/>
          <a:p>
            <a:pPr marL="0" indent="0">
              <a:buNone/>
            </a:pPr>
            <a:r>
              <a:rPr lang="en-GB" sz="2800" dirty="0">
                <a:solidFill>
                  <a:schemeClr val="tx1"/>
                </a:solidFill>
                <a:latin typeface="Garamond" panose="02020404030301010803"/>
                <a:ea typeface="+mn-lt"/>
                <a:cs typeface="+mn-lt"/>
              </a:rPr>
              <a:t>Two ways to create a Thread:</a:t>
            </a:r>
            <a:endParaRPr lang="en-GB" sz="2800">
              <a:solidFill>
                <a:schemeClr val="tx1"/>
              </a:solidFill>
              <a:latin typeface="Garamond" panose="02020404030301010803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Extending the Thread Class.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Implementing Runnable Interface in Java.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marL="0" indent="0">
              <a:buNone/>
            </a:pPr>
            <a:r>
              <a:rPr lang="en-GB" sz="2800" dirty="0">
                <a:solidFill>
                  <a:schemeClr val="tx1"/>
                </a:solidFill>
                <a:latin typeface="Garamond" panose="02020404030301010803"/>
                <a:ea typeface="+mn-lt"/>
                <a:cs typeface="+mn-lt"/>
              </a:rPr>
              <a:t>Two ways to run a Thread:</a:t>
            </a:r>
            <a:endParaRPr lang="en-GB" sz="2800">
              <a:solidFill>
                <a:schemeClr val="tx1"/>
              </a:solidFill>
              <a:latin typeface="Garamond" panose="02020404030301010803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If the class extends the Thread class, the thread can be run by creating an instance of the class and call its start() method. 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If the class implements the Runnable interface, the thread can be run by passing an instance of the class to a Thread object's constructor and then calling the thread's start() method.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1054" y="243471"/>
            <a:ext cx="10259682" cy="1422003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Garamond" panose="02020404030301010803"/>
                <a:cs typeface="Arial" panose="020B0604020202020204"/>
              </a:rPr>
              <a:t>ORDERING OF FOOD IN STALLS BY CUSTOMERS (Program Explanation)</a:t>
            </a:r>
            <a:endParaRPr lang="en-GB" b="1" dirty="0">
              <a:solidFill>
                <a:schemeClr val="bg1"/>
              </a:solidFill>
              <a:latin typeface="Garamond" panose="02020404030301010803"/>
              <a:cs typeface="Arial" panose="020B060402020202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2675694"/>
            <a:ext cx="10058400" cy="3193294"/>
          </a:xfrm>
        </p:spPr>
        <p:txBody>
          <a:bodyPr vert="horz" lIns="0" tIns="45720" rIns="0" bIns="45720" rtlCol="0" anchor="t">
            <a:normAutofit/>
          </a:bodyPr>
          <a:lstStyle/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This project is about the Food Stall where the Customers can place orders in Parallel can be done using Parallelism Multithreading in Java.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This project demonstrates Parallel Processing of Customer orders in Food Stall using Java Executor Framework.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Garamond" panose="02020404030301010803"/>
                <a:cs typeface="Arial" panose="020B0604020202020204"/>
              </a:rPr>
              <a:t>ADVANTAGES OF THE PROJECT</a:t>
            </a:r>
            <a:endParaRPr lang="en-GB" b="1" dirty="0">
              <a:solidFill>
                <a:schemeClr val="bg1"/>
              </a:solidFill>
              <a:latin typeface="Garamond" panose="02020404030301010803"/>
              <a:cs typeface="Arial" panose="020B060402020202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2675694"/>
            <a:ext cx="10058400" cy="3193294"/>
          </a:xfrm>
        </p:spPr>
        <p:txBody>
          <a:bodyPr vert="horz" lIns="0" tIns="45720" rIns="0" bIns="45720" rtlCol="0" anchor="t">
            <a:normAutofit/>
          </a:bodyPr>
          <a:lstStyle/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Improved Efficiency</a:t>
            </a:r>
            <a:endParaRPr lang="en-US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Enhanced Scalability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Reduced Bottlenecks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Realtime Updates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Load Balancing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marL="0" indent="0">
              <a:buNone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rgbClr val="FFFFFF"/>
                </a:solidFill>
                <a:latin typeface="Garamond" panose="02020404030301010803"/>
              </a:rPr>
              <a:t>DISADVANTAGES OF THE PROJECT</a:t>
            </a:r>
            <a:endParaRPr lang="en-GB" dirty="0">
              <a:solidFill>
                <a:schemeClr val="bg1"/>
              </a:solidFill>
              <a:latin typeface="Garamond" panose="02020404030301010803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2675694"/>
            <a:ext cx="10058400" cy="3193294"/>
          </a:xfrm>
        </p:spPr>
        <p:txBody>
          <a:bodyPr vert="horz" lIns="0" tIns="45720" rIns="0" bIns="45720" rtlCol="0" anchor="t">
            <a:noAutofit/>
          </a:bodyPr>
          <a:lstStyle/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Complex Implementation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Synchronization Challenges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Increased Resource Consumption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Debugging Complexity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Overhead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cs typeface="Arial" panose="020B0604020202020204"/>
              </a:rPr>
              <a:t> Compatibility and Portability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buFont typeface="Wingdings" panose="05000000000000000000" pitchFamily="34" charset="0"/>
              <a:buChar char="Ø"/>
            </a:pP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Garamond" panose="02020404030301010803"/>
                <a:cs typeface="Arial" panose="020B0604020202020204"/>
              </a:rPr>
              <a:t>CODE SNIPPET OF THE PROJECT</a:t>
            </a:r>
            <a:endParaRPr lang="en-GB" b="1" dirty="0">
              <a:solidFill>
                <a:schemeClr val="bg1"/>
              </a:solidFill>
              <a:latin typeface="Garamond" panose="02020404030301010803"/>
              <a:cs typeface="Arial" panose="020B060402020202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1913694"/>
            <a:ext cx="11093569" cy="4487256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import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java.util.concurrent.ExecutorService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;</a:t>
            </a:r>
            <a:endParaRPr lang="en-GB" sz="2000" dirty="0">
              <a:solidFill>
                <a:schemeClr val="tx1"/>
              </a:solidFill>
              <a:latin typeface="Arial" panose="020B0604020202020204"/>
              <a:ea typeface="+mn-lt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import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java.util.concurrent.Executors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class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{ public void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takeOrder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(String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custName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, String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foodItem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)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{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System.out.println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custName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+ " is ordering " +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foodItem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); 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System.out.println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();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     try // Simulate food preparation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     {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Thread.sleep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(3000); } catch(Exception e)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     {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e.printStackTrace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(); }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1913694"/>
            <a:ext cx="11021683" cy="4487256"/>
          </a:xfrm>
        </p:spPr>
        <p:txBody>
          <a:bodyPr vert="horz" lIns="0" tIns="45720" rIns="0" bIns="45720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System.out.println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foodItem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+ " is ready for "+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custName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);  </a:t>
            </a:r>
            <a:endParaRPr lang="en-GB" sz="2000" dirty="0">
              <a:solidFill>
                <a:schemeClr val="tx1"/>
              </a:solidFill>
              <a:latin typeface="Arial" panose="020B0604020202020204"/>
              <a:ea typeface="+mn-lt"/>
              <a:cs typeface="Arial" panose="020B0604020202020204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System.out.println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();  }}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class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custOrder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implements Runnable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{ private String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custName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,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foodItem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;  </a:t>
            </a:r>
            <a:endParaRPr lang="en-GB" sz="2000" dirty="0">
              <a:solidFill>
                <a:schemeClr val="tx1"/>
              </a:solidFill>
              <a:latin typeface="Arial" panose="020B0604020202020204"/>
              <a:ea typeface="+mn-lt"/>
              <a:cs typeface="Arial" panose="020B0604020202020204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 private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public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custOrder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(String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custName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, String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foodItem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)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{ 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this.custName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=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custName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;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this.foodItem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=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foodItem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;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this.foodStall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=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; }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1913694"/>
            <a:ext cx="11093569" cy="4487256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@Override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public void run()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{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foodStall.takeOrder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custName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,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foodItem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); }</a:t>
            </a:r>
            <a:endParaRPr lang="en-GB" sz="2000">
              <a:solidFill>
                <a:schemeClr val="tx1"/>
              </a:solidFill>
              <a:latin typeface="Arial" panose="020B0604020202020204"/>
              <a:ea typeface="+mn-lt"/>
              <a:cs typeface="+mn-lt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public static void main(String[]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args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)</a:t>
            </a:r>
            <a:endParaRPr lang="en-GB" sz="2000" dirty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{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fs = new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FoodStall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();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ExecutorService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 executor = 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Executors.newFixedThreadPool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(5);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String[] customers = {"customer 1", "customer 2", "customer 3", "customer 4", "customer 5"};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String[] orders = {"Burger", "Pasta", "Noodles", "</a:t>
            </a:r>
            <a:r>
              <a:rPr lang="en-GB" sz="200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Briyani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", "Fried Rice"};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963" y="2675694"/>
            <a:ext cx="10058400" cy="3193294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for(int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i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=0;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i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&lt;5;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i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++)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{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     Runnable order = new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custOrder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(customers[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i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], orders[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i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], fs);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    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executor.execute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(order);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}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    </a:t>
            </a:r>
            <a:r>
              <a:rPr lang="en-GB" sz="2000" dirty="0" err="1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executor.shutdown</a:t>
            </a:r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();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}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r>
              <a:rPr lang="en-GB" sz="2000" dirty="0">
                <a:solidFill>
                  <a:schemeClr val="tx1"/>
                </a:solidFill>
                <a:latin typeface="Arial" panose="020B0604020202020204"/>
                <a:ea typeface="+mn-lt"/>
                <a:cs typeface="+mn-lt"/>
              </a:rPr>
              <a:t>}</a:t>
            </a:r>
            <a:endParaRPr lang="en-GB" sz="200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07" y="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ctr"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Garamond" panose="02020404030301010803"/>
                <a:cs typeface="Arial" panose="020B0604020202020204"/>
              </a:rPr>
              <a:t>OUTPUT OF THE PROJECT</a:t>
            </a:r>
            <a:endParaRPr lang="en-GB" b="1" dirty="0">
              <a:solidFill>
                <a:schemeClr val="bg1"/>
              </a:solidFill>
              <a:latin typeface="Garamond" panose="02020404030301010803"/>
              <a:cs typeface="Arial" panose="020B0604020202020204"/>
            </a:endParaRPr>
          </a:p>
        </p:txBody>
      </p:sp>
      <p:pic>
        <p:nvPicPr>
          <p:cNvPr id="4" name="Content Placeholder 3" descr="A screenshot of a computer program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76965" y="1913694"/>
            <a:ext cx="11212129" cy="4487256"/>
          </a:xfrm>
        </p:spPr>
      </p:pic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60" name="Straight Connector 59"/>
          <p:cNvCxnSpPr>
            <a:cxnSpLocks noGrp="1" noRot="1" noChangeAspect="1" noMove="1" noResize="1" noEditPoints="1" noAdjustHandles="1" noChangeArrowheads="1" noChangeShapeType="1"/>
          </p:cNvCxnSpPr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Wrapped present with bow"/>
          <p:cNvPicPr>
            <a:picLocks noChangeAspect="1"/>
          </p:cNvPicPr>
          <p:nvPr/>
        </p:nvPicPr>
        <p:blipFill rotWithShape="1">
          <a:blip r:embed="rId1">
            <a:alphaModFix amt="35000"/>
          </a:blip>
          <a:srcRect t="4375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b="1" dirty="0">
                <a:solidFill>
                  <a:srgbClr val="FFFFFF"/>
                </a:solidFill>
                <a:latin typeface="Garamond" panose="02020404030301010803"/>
              </a:rPr>
              <a:t>THANK YOU</a:t>
            </a:r>
            <a:endParaRPr lang="en-US" sz="8000" b="1" dirty="0">
              <a:solidFill>
                <a:srgbClr val="FFFFFF"/>
              </a:solidFill>
              <a:latin typeface="Garamond" panose="02020404030301010803"/>
            </a:endParaRPr>
          </a:p>
        </p:txBody>
      </p:sp>
      <p:cxnSp>
        <p:nvCxnSpPr>
          <p:cNvPr id="62" name="Straight Connector 61"/>
          <p:cNvCxnSpPr>
            <a:cxnSpLocks noGrp="1" noRot="1" noChangeAspect="1" noMove="1" noResize="1" noEditPoints="1" noAdjustHandles="1" noChangeArrowheads="1" noChangeShapeType="1"/>
          </p:cNvCxnSpPr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!!footer rectangle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>
              <a:alpha val="9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>
        <p15:prstTrans prst="drape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Arial Nova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ov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3949</Words>
  <Application>WPS Presentation</Application>
  <PresentationFormat>Widescreen</PresentationFormat>
  <Paragraphs>122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SimSun</vt:lpstr>
      <vt:lpstr>Wingdings</vt:lpstr>
      <vt:lpstr>Calibri</vt:lpstr>
      <vt:lpstr>Garamond</vt:lpstr>
      <vt:lpstr>Wingdings</vt:lpstr>
      <vt:lpstr>Arial</vt:lpstr>
      <vt:lpstr>Arial Nova</vt:lpstr>
      <vt:lpstr>Microsoft YaHei</vt:lpstr>
      <vt:lpstr>Arial Unicode MS</vt:lpstr>
      <vt:lpstr>Arial Nova Light</vt:lpstr>
      <vt:lpstr>RetrospectVTI</vt:lpstr>
      <vt:lpstr>MULTITHREADING AND PARALLELISM IN JAVA</vt:lpstr>
      <vt:lpstr>AGENDA</vt:lpstr>
      <vt:lpstr>MULTITHREADING</vt:lpstr>
      <vt:lpstr>PARALLELISM</vt:lpstr>
      <vt:lpstr>THREADS</vt:lpstr>
      <vt:lpstr>CREATION AND RUNNING OF THREADS</vt:lpstr>
      <vt:lpstr>ORDERING OF FOOD IN STALLS BY CUSTOMERS (Program Explanation)</vt:lpstr>
      <vt:lpstr>ADVANTAGES OF THE PROJECT</vt:lpstr>
      <vt:lpstr>DISADVANTAGES OF THE PROJECT</vt:lpstr>
      <vt:lpstr>CODE SNIPPET OF THE PROJECT</vt:lpstr>
      <vt:lpstr>PowerPoint 演示文稿</vt:lpstr>
      <vt:lpstr>PowerPoint 演示文稿</vt:lpstr>
      <vt:lpstr>PowerPoint 演示文稿</vt:lpstr>
      <vt:lpstr>OUTPUT OF THE PROJECT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HP</cp:lastModifiedBy>
  <cp:revision>489</cp:revision>
  <dcterms:created xsi:type="dcterms:W3CDTF">2023-11-06T14:01:00Z</dcterms:created>
  <dcterms:modified xsi:type="dcterms:W3CDTF">2023-11-06T17:45:10Z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C1915243290746FAB01FB81B5F16E0F0_13</vt:lpwstr>
  </property>
  <property fmtid="{D5CDD505-2E9C-101B-9397-08002B2CF9AE}" pid="3" name="KSOProductBuildVer">
    <vt:lpwstr>1033-12.2.0.13266</vt:lpwstr>
  </property>
</Properties>
</file>