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5760" y="567210"/>
            <a:ext cx="6814033" cy="272273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5400" b="1">
                <a:solidFill>
                  <a:schemeClr val="tx1"/>
                </a:solidFill>
                <a:latin typeface="Garamond" panose="02020404030301010803"/>
              </a:rPr>
              <a:t>ORDERING OF FOOD IN STALLS BY CUSTOMERS</a:t>
            </a:r>
            <a:endParaRPr lang="en-US" sz="5400" b="1">
              <a:solidFill>
                <a:schemeClr val="tx1"/>
              </a:solidFill>
              <a:latin typeface="Garamond" panose="02020404030301010803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87600" y="5578475"/>
            <a:ext cx="5168900" cy="116522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GB" sz="3200" dirty="0">
                <a:latin typeface="Garamond" panose="02020404030301010803"/>
                <a:ea typeface="+mn-lt"/>
                <a:cs typeface="+mn-lt"/>
              </a:rPr>
              <a:t>           PRESENTED BY</a:t>
            </a:r>
            <a:endParaRPr lang="en-US" sz="3200">
              <a:latin typeface="Garamond" panose="02020404030301010803"/>
            </a:endParaRPr>
          </a:p>
          <a:p>
            <a:pPr>
              <a:lnSpc>
                <a:spcPct val="110000"/>
              </a:lnSpc>
            </a:pPr>
            <a:r>
              <a:rPr lang="en-GB" sz="3200" dirty="0">
                <a:latin typeface="Garamond" panose="02020404030301010803"/>
                <a:ea typeface="+mn-lt"/>
                <a:cs typeface="+mn-lt"/>
              </a:rPr>
              <a:t>        </a:t>
            </a:r>
            <a:r>
              <a:rPr lang="en-US" altLang="en-GB" sz="3200" dirty="0">
                <a:latin typeface="Garamond" panose="02020404030301010803"/>
                <a:ea typeface="+mn-lt"/>
                <a:cs typeface="+mn-lt"/>
              </a:rPr>
              <a:t>      </a:t>
            </a:r>
            <a:r>
              <a:rPr lang="en-GB" sz="3200" dirty="0">
                <a:latin typeface="Garamond" panose="02020404030301010803"/>
                <a:ea typeface="+mn-lt"/>
                <a:cs typeface="+mn-lt"/>
              </a:rPr>
              <a:t>SOWMIY</a:t>
            </a:r>
            <a:r>
              <a:rPr lang="en-US" altLang="en-GB" sz="3200" dirty="0">
                <a:latin typeface="Garamond" panose="02020404030301010803"/>
                <a:ea typeface="+mn-lt"/>
                <a:cs typeface="+mn-lt"/>
              </a:rPr>
              <a:t>A S</a:t>
            </a:r>
            <a:endParaRPr lang="en-GB" sz="3200" dirty="0">
              <a:latin typeface="Garamond" panose="02020404030301010803"/>
            </a:endParaRPr>
          </a:p>
          <a:p>
            <a:pPr>
              <a:lnSpc>
                <a:spcPct val="110000"/>
              </a:lnSpc>
            </a:pPr>
            <a:endParaRPr lang="en-GB" sz="3200" dirty="0">
              <a:latin typeface="Garamond" panose="02020404030301010803"/>
            </a:endParaRPr>
          </a:p>
        </p:txBody>
      </p:sp>
      <p:cxnSp>
        <p:nvCxnSpPr>
          <p:cNvPr id="76" name="Straight Connector 75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oloured pencils inside a pencil holder which is on top of a wood table"/>
          <p:cNvPicPr>
            <a:picLocks noChangeAspect="1"/>
          </p:cNvPicPr>
          <p:nvPr/>
        </p:nvPicPr>
        <p:blipFill rotWithShape="1">
          <a:blip r:embed="rId1"/>
          <a:srcRect l="49631" r="5252" b="-2"/>
          <a:stretch>
            <a:fillRect/>
          </a:stretch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Garamond" panose="02020404030301010803"/>
                <a:ea typeface="+mj-lt"/>
                <a:cs typeface="+mj-lt"/>
              </a:rPr>
              <a:t>AGENDA</a:t>
            </a:r>
            <a:endParaRPr lang="en-US" b="1">
              <a:solidFill>
                <a:schemeClr val="bg1"/>
              </a:solidFill>
              <a:latin typeface="Garamond" panose="02020404030301010803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0699" y="2388147"/>
            <a:ext cx="10058400" cy="4012803"/>
          </a:xfrm>
        </p:spPr>
        <p:txBody>
          <a:bodyPr vert="horz" lIns="0" tIns="45720" rIns="0" bIns="45720" rtlCol="0" anchor="t">
            <a:noAutofit/>
          </a:bodyPr>
          <a:lstStyle/>
          <a:p>
            <a:pPr>
              <a:lnSpc>
                <a:spcPct val="110000"/>
              </a:lnSpc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 MULTITHREADING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10000"/>
              </a:lnSpc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 PARALLELISM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10000"/>
              </a:lnSpc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 THREADS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10000"/>
              </a:lnSpc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 CREATION AND RUNNING OF THREADS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10000"/>
              </a:lnSpc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 ORDERING OF FOOD IN STALLS BY CUSTOMERS (</a:t>
            </a:r>
            <a:r>
              <a:rPr lang="en-US" altLang="en-GB" sz="200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Project 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Explanation)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10000"/>
              </a:lnSpc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 ADVANTAGES AND DISADVANTAGES OF THE PROJECT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10000"/>
              </a:lnSpc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 CODE SNIPPET OF THE PROJECT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10000"/>
              </a:lnSpc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 OUTPUT OF THE PROJECT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Rectangle 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GB" b="1" dirty="0">
                <a:solidFill>
                  <a:srgbClr val="FFFFFF"/>
                </a:solidFill>
                <a:latin typeface="Garamond" panose="02020404030301010803"/>
                <a:ea typeface="+mj-lt"/>
                <a:cs typeface="+mj-lt"/>
              </a:rPr>
              <a:t>MULTITHREADING</a:t>
            </a:r>
            <a:endParaRPr lang="en-US" b="1" dirty="0">
              <a:solidFill>
                <a:srgbClr val="FFFFFF"/>
              </a:solidFill>
              <a:latin typeface="Garamond" panose="02020404030301010803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6963" y="2675694"/>
            <a:ext cx="10058400" cy="3193294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Multithreading is a programming concept in which the application can create a small unit of tasks to execute in parallel or concurrent. 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It is the ability to execute multiple threads independently at the same time but share the process resources simultaneously.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It will make the execution of the program fast and easy.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Java has great support for multithreaded applications. Java supports multithreading through Thread class.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8" name="Rectangle 7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GB" b="1" dirty="0">
                <a:solidFill>
                  <a:srgbClr val="FFFFFF"/>
                </a:solidFill>
                <a:latin typeface="Garamond" panose="02020404030301010803"/>
                <a:ea typeface="+mj-lt"/>
                <a:cs typeface="+mj-lt"/>
              </a:rPr>
              <a:t>PARALLELISM</a:t>
            </a:r>
            <a:endParaRPr lang="en-US" b="1" dirty="0">
              <a:solidFill>
                <a:srgbClr val="FFFFFF"/>
              </a:solidFill>
              <a:latin typeface="Garamond" panose="02020404030301010803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6963" y="2675694"/>
            <a:ext cx="10058400" cy="3193294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Parallelism is the ability to execute independent tasks of a program in the same instant of time.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Each thread can run on a separate process at the same time, using a number of resources resulting in parallel execution.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This is only applicable when we have more than one thread.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GB" b="1" dirty="0">
                <a:solidFill>
                  <a:srgbClr val="FFFFFF"/>
                </a:solidFill>
                <a:latin typeface="Garamond" panose="02020404030301010803"/>
                <a:ea typeface="+mj-lt"/>
                <a:cs typeface="+mj-lt"/>
              </a:rPr>
              <a:t>THREADS</a:t>
            </a:r>
            <a:endParaRPr lang="en-US" b="1" dirty="0">
              <a:solidFill>
                <a:srgbClr val="FFFFFF"/>
              </a:solidFill>
              <a:latin typeface="Garamond" panose="02020404030301010803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6962" y="2287505"/>
            <a:ext cx="11093569" cy="4573520"/>
          </a:xfrm>
        </p:spPr>
        <p:txBody>
          <a:bodyPr vert="horz" lIns="0" tIns="45720" rIns="0" bIns="45720" rtlCol="0" anchor="t">
            <a:noAutofit/>
          </a:bodyPr>
          <a:lstStyle/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Threads in Java is a lightweight process that allows multiple tasks to be executed simultaneously within a single program. 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We can create multiple threads in single process and each thread is independent of the other. 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Threads used to achieve parallelism and improve performance and responsiveness.</a:t>
            </a:r>
            <a:endParaRPr lang="en-GB" sz="2000">
              <a:solidFill>
                <a:schemeClr val="tx1"/>
              </a:solidFill>
              <a:latin typeface="Arial" panose="020B0604020202020204"/>
              <a:ea typeface="+mn-lt"/>
              <a:cs typeface="Arial" panose="020B0604020202020204"/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  It has two types: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User Threads – High priority threads. The JVM will wait for any user thread to complete its task before terminating it.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Daemon Threads – Low priority threads, whose only role is to provide services to user threads.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GB" b="1" dirty="0">
                <a:solidFill>
                  <a:srgbClr val="FFFFFF"/>
                </a:solidFill>
                <a:latin typeface="Garamond" panose="02020404030301010803"/>
                <a:ea typeface="+mj-lt"/>
                <a:cs typeface="+mj-lt"/>
              </a:rPr>
              <a:t>CREATION AND RUNNING OF THREADS</a:t>
            </a:r>
            <a:endParaRPr lang="en-US" b="1" dirty="0">
              <a:solidFill>
                <a:srgbClr val="FFFFFF"/>
              </a:solidFill>
              <a:latin typeface="Garamond" panose="02020404030301010803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6321" y="2143731"/>
            <a:ext cx="11093569" cy="4487256"/>
          </a:xfrm>
        </p:spPr>
        <p:txBody>
          <a:bodyPr vert="horz" lIns="0" tIns="45720" rIns="0" bIns="45720" rtlCol="0" anchor="t">
            <a:noAutofit/>
          </a:bodyPr>
          <a:lstStyle/>
          <a:p>
            <a:pPr marL="0" indent="0">
              <a:buNone/>
            </a:pPr>
            <a:r>
              <a:rPr lang="en-GB" sz="2400" dirty="0">
                <a:solidFill>
                  <a:schemeClr val="tx1"/>
                </a:solidFill>
                <a:latin typeface="Garamond" panose="02020404030301010803"/>
                <a:ea typeface="+mn-lt"/>
                <a:cs typeface="+mn-lt"/>
              </a:rPr>
              <a:t>Two ways to create a Thread:</a:t>
            </a:r>
            <a:endParaRPr lang="en-GB" sz="2400">
              <a:solidFill>
                <a:schemeClr val="tx1"/>
              </a:solidFill>
              <a:latin typeface="Garamond" panose="02020404030301010803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Extending the Thread Class.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Implementing Runnable Interface in Java.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marL="0" indent="0">
              <a:buNone/>
            </a:pPr>
            <a:r>
              <a:rPr lang="en-GB" sz="2400" dirty="0">
                <a:solidFill>
                  <a:schemeClr val="tx1"/>
                </a:solidFill>
                <a:latin typeface="Garamond" panose="02020404030301010803"/>
                <a:ea typeface="+mn-lt"/>
                <a:cs typeface="+mn-lt"/>
              </a:rPr>
              <a:t>Two ways to run a Thread:</a:t>
            </a:r>
            <a:endParaRPr lang="en-GB" sz="2400">
              <a:solidFill>
                <a:schemeClr val="tx1"/>
              </a:solidFill>
              <a:latin typeface="Garamond" panose="02020404030301010803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If the class extends the Thread class, the thread can be run by creating an instance of the class and call its start() method. 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If the class implements the Runnable interface, the thread can be run by passing an instance of the class to a Thread object's constructor and then calling the thread's start() method.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1054" y="243471"/>
            <a:ext cx="10259682" cy="1422003"/>
          </a:xfrm>
        </p:spPr>
        <p:txBody>
          <a:bodyPr anchor="ctr"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Garamond" panose="02020404030301010803"/>
                <a:cs typeface="Arial" panose="020B0604020202020204"/>
              </a:rPr>
              <a:t>ORDERING OF FOOD IN STALLS BY CUSTOMERS (Program Explanation)</a:t>
            </a:r>
            <a:endParaRPr lang="en-GB" b="1" dirty="0">
              <a:solidFill>
                <a:schemeClr val="bg1"/>
              </a:solidFill>
              <a:latin typeface="Garamond" panose="02020404030301010803"/>
              <a:cs typeface="Arial" panose="020B060402020202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905000"/>
            <a:ext cx="11123930" cy="4495800"/>
          </a:xfrm>
        </p:spPr>
        <p:txBody>
          <a:bodyPr vert="horz" lIns="0" tIns="45720" rIns="0" bIns="45720" rtlCol="0" anchor="t">
            <a:noAutofit/>
          </a:bodyPr>
          <a:lstStyle/>
          <a:p>
            <a:pPr>
              <a:buFont typeface="Wingdings" panose="05000000000000000000" pitchFamily="34" charset="0"/>
              <a:buChar char="Ø"/>
            </a:pPr>
            <a:r>
              <a:rPr lang="en-GB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project is about the Food Stall where the Customers can place orders in Parallel can be done using Parallelism Multithreading in Java.</a:t>
            </a:r>
            <a:endParaRPr lang="en-GB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This project demonstrates Parallel Processing of Customer orders in Food</a:t>
            </a:r>
            <a:r>
              <a:rPr lang="en-US" alt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Stall using Java Executor Framework.</a:t>
            </a:r>
            <a:endParaRPr lang="en-GB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34" charset="0"/>
              <a:buNone/>
            </a:pPr>
            <a:r>
              <a:rPr lang="en-US" altLang="en-GB" sz="2400">
                <a:solidFill>
                  <a:schemeClr val="tx1"/>
                </a:solidFill>
                <a:latin typeface="Garamond" panose="02020404030301010803" charset="0"/>
                <a:cs typeface="Garamond" panose="02020404030301010803" charset="0"/>
              </a:rPr>
              <a:t>JAVA EXECUTOR FRAMEWORK</a:t>
            </a:r>
            <a:endParaRPr lang="en-US" altLang="en-GB" sz="2400">
              <a:solidFill>
                <a:schemeClr val="tx1"/>
              </a:solidFill>
              <a:latin typeface="Garamond" panose="02020404030301010803" charset="0"/>
              <a:cs typeface="Garamond" panose="02020404030301010803" charset="0"/>
            </a:endParaRPr>
          </a:p>
          <a:p>
            <a:pPr>
              <a:buFont typeface="Wingdings" panose="05000000000000000000" pitchFamily="34" charset="0"/>
              <a:buChar char="Ø"/>
            </a:pPr>
            <a:r>
              <a:rPr lang="en-US" altLang="en-GB"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GB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 provides its own multi-threading framework called the Java Executor Framework.</a:t>
            </a:r>
            <a:endParaRPr lang="en-US" altLang="en-GB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34" charset="0"/>
              <a:buChar char="Ø"/>
            </a:pPr>
            <a:r>
              <a:rPr lang="en-US" altLang="en-GB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Executor Framework is a powerful and flexible tool for managing and executing tasks in Java applications.</a:t>
            </a:r>
            <a:endParaRPr lang="en-US" altLang="en-GB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Garamond" panose="02020404030301010803"/>
                <a:cs typeface="Arial" panose="020B0604020202020204"/>
              </a:rPr>
              <a:t>ADVANTAGES OF THE PROJECT</a:t>
            </a:r>
            <a:endParaRPr lang="en-GB" b="1" dirty="0">
              <a:solidFill>
                <a:schemeClr val="bg1"/>
              </a:solidFill>
              <a:latin typeface="Garamond" panose="02020404030301010803"/>
              <a:cs typeface="Arial" panose="020B060402020202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6963" y="2675694"/>
            <a:ext cx="10058400" cy="3193294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 Improved Efficiency</a:t>
            </a:r>
            <a:endParaRPr lang="en-US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 Enhanced Scalability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 Reduced Bottlenecks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 Realtime Updates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 Load Balancing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 marL="0" indent="0">
              <a:buNone/>
            </a:pP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GB" b="1" dirty="0">
                <a:solidFill>
                  <a:srgbClr val="FFFFFF"/>
                </a:solidFill>
                <a:latin typeface="Garamond" panose="02020404030301010803"/>
              </a:rPr>
              <a:t>DISADVANTAGES OF THE PROJECT</a:t>
            </a:r>
            <a:endParaRPr lang="en-GB" dirty="0">
              <a:solidFill>
                <a:schemeClr val="bg1"/>
              </a:solidFill>
              <a:latin typeface="Garamond" panose="02020404030301010803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6963" y="2675694"/>
            <a:ext cx="10058400" cy="3193294"/>
          </a:xfrm>
        </p:spPr>
        <p:txBody>
          <a:bodyPr vert="horz" lIns="0" tIns="45720" rIns="0" bIns="45720" rtlCol="0" anchor="t">
            <a:noAutofit/>
          </a:bodyPr>
          <a:lstStyle/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 Complex Implementation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 Synchronization Challenges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 Increased Resource Consumption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 Debugging Complexity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 Compatibility and Portability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buFont typeface="Wingdings" panose="05000000000000000000" pitchFamily="34" charset="0"/>
              <a:buChar char="Ø"/>
            </a:pP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Garamond" panose="02020404030301010803"/>
                <a:cs typeface="Arial" panose="020B0604020202020204"/>
              </a:rPr>
              <a:t>CODE SNIPPET OF THE PROJECT</a:t>
            </a:r>
            <a:endParaRPr lang="en-GB" b="1" dirty="0">
              <a:solidFill>
                <a:schemeClr val="bg1"/>
              </a:solidFill>
              <a:latin typeface="Garamond" panose="02020404030301010803"/>
              <a:cs typeface="Arial" panose="020B060402020202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6963" y="1913694"/>
            <a:ext cx="11093569" cy="4487256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import 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java.util.concurrent.ExecutorService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;</a:t>
            </a:r>
            <a:endParaRPr lang="en-GB" sz="2000" dirty="0">
              <a:solidFill>
                <a:schemeClr val="tx1"/>
              </a:solidFill>
              <a:latin typeface="Arial" panose="020B0604020202020204"/>
              <a:ea typeface="+mn-lt"/>
              <a:cs typeface="Arial" panose="020B0604020202020204"/>
            </a:endParaRPr>
          </a:p>
          <a:p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import </a:t>
            </a:r>
            <a:r>
              <a:rPr lang="en-GB" sz="200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java.util.concurrent.Executors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;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class </a:t>
            </a:r>
            <a:r>
              <a:rPr lang="en-GB" sz="200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FoodStall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{ public void </a:t>
            </a:r>
            <a:r>
              <a:rPr lang="en-GB" sz="200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takeOrder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(String </a:t>
            </a:r>
            <a:r>
              <a:rPr lang="en-GB" sz="200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custName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, String </a:t>
            </a:r>
            <a:r>
              <a:rPr lang="en-GB" sz="200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foodItem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)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   { 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System.out.println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(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custName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 + " is ordering " + 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foodItem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);  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System.out.println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();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       try // Simulate food preparation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       { 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Thread.sleep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(3000); } catch(Exception e)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       { </a:t>
            </a:r>
            <a:r>
              <a:rPr lang="en-GB" sz="200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e.printStackTrace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(); }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6963" y="1913694"/>
            <a:ext cx="11021683" cy="4487256"/>
          </a:xfrm>
        </p:spPr>
        <p:txBody>
          <a:bodyPr vert="horz" lIns="0" tIns="45720" rIns="0" bIns="4572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GB" sz="200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System.out.println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(</a:t>
            </a:r>
            <a:r>
              <a:rPr lang="en-GB" sz="200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foodItem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 + " is ready for "+</a:t>
            </a:r>
            <a:r>
              <a:rPr lang="en-GB" sz="200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custName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);  </a:t>
            </a:r>
            <a:endParaRPr lang="en-GB" sz="2000" dirty="0">
              <a:solidFill>
                <a:schemeClr val="tx1"/>
              </a:solidFill>
              <a:latin typeface="Arial" panose="020B0604020202020204"/>
              <a:ea typeface="+mn-lt"/>
              <a:cs typeface="Arial" panose="020B0604020202020204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System.out.println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();  }}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10000"/>
              </a:lnSpc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class 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custOrder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 implements Runnable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10000"/>
              </a:lnSpc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{ private String </a:t>
            </a:r>
            <a:r>
              <a:rPr lang="en-GB" sz="200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custName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, </a:t>
            </a:r>
            <a:r>
              <a:rPr lang="en-GB" sz="200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foodItem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;  </a:t>
            </a:r>
            <a:endParaRPr lang="en-GB" sz="2000" dirty="0">
              <a:solidFill>
                <a:schemeClr val="tx1"/>
              </a:solidFill>
              <a:latin typeface="Arial" panose="020B0604020202020204"/>
              <a:ea typeface="+mn-lt"/>
              <a:cs typeface="Arial" panose="020B0604020202020204"/>
            </a:endParaRPr>
          </a:p>
          <a:p>
            <a:pPr>
              <a:lnSpc>
                <a:spcPct val="110000"/>
              </a:lnSpc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 private 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FoodStall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foodStall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;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10000"/>
              </a:lnSpc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public 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custOrder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(String 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custName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, String 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foodItem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, 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FoodStall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foodStall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)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10000"/>
              </a:lnSpc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{ 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this.custName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 = 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custName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;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10000"/>
              </a:lnSpc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   </a:t>
            </a:r>
            <a:r>
              <a:rPr lang="en-GB" sz="200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this.foodItem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 = </a:t>
            </a:r>
            <a:r>
              <a:rPr lang="en-GB" sz="200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foodItem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;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10000"/>
              </a:lnSpc>
            </a:pP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   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this.foodStall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 = 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foodStall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; }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6963" y="1913694"/>
            <a:ext cx="11093569" cy="4487256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@Override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public void run()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{ </a:t>
            </a:r>
            <a:r>
              <a:rPr lang="en-GB" sz="200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foodStall.takeOrder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(</a:t>
            </a:r>
            <a:r>
              <a:rPr lang="en-GB" sz="200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custName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, </a:t>
            </a:r>
            <a:r>
              <a:rPr lang="en-GB" sz="200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foodItem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); }</a:t>
            </a:r>
            <a:endParaRPr lang="en-GB" sz="2000">
              <a:solidFill>
                <a:schemeClr val="tx1"/>
              </a:solidFill>
              <a:latin typeface="Arial" panose="020B0604020202020204"/>
              <a:ea typeface="+mn-lt"/>
              <a:cs typeface="+mn-lt"/>
            </a:endParaRPr>
          </a:p>
          <a:p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public static void main(String[] </a:t>
            </a:r>
            <a:r>
              <a:rPr lang="en-GB" sz="200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args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)</a:t>
            </a:r>
            <a:endParaRPr lang="en-GB" sz="2000" dirty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{ 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FoodStall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 fs = new 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FoodStall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();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   </a:t>
            </a:r>
            <a:r>
              <a:rPr lang="en-GB" sz="200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ExecutorService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 executor = </a:t>
            </a:r>
            <a:r>
              <a:rPr lang="en-GB" sz="200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Executors.newFixedThreadPool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(5);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   String[] customers = {"customer 1", "customer 2", "customer 3", "customer 4", "customer 5"};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   String[] orders = {"Burger", "Pasta", "Noodles", "</a:t>
            </a:r>
            <a:r>
              <a:rPr lang="en-GB" sz="200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Briyani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", "Fried Rice"};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033905"/>
            <a:ext cx="10058400" cy="3724275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for(int 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i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=0; 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i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&lt;5; 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i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++)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   {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       Runnable order = new 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custOrder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(customers[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i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], orders[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i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], fs);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       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executor.execute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(order);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   }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    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executor.shutdown</a:t>
            </a:r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();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}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r>
              <a:rPr lang="en-GB" sz="2000" dirty="0">
                <a:solidFill>
                  <a:schemeClr val="tx1"/>
                </a:solidFill>
                <a:latin typeface="Arial" panose="020B0604020202020204"/>
                <a:ea typeface="+mn-lt"/>
                <a:cs typeface="+mn-lt"/>
              </a:rPr>
              <a:t>}</a:t>
            </a:r>
            <a:endParaRPr lang="en-GB" sz="200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Garamond" panose="02020404030301010803"/>
                <a:cs typeface="Arial" panose="020B0604020202020204"/>
              </a:rPr>
              <a:t>OUTPUT OF THE PROJECT</a:t>
            </a:r>
            <a:endParaRPr lang="en-GB" b="1" dirty="0">
              <a:solidFill>
                <a:schemeClr val="bg1"/>
              </a:solidFill>
              <a:latin typeface="Garamond" panose="02020404030301010803"/>
              <a:cs typeface="Arial" panose="020B0604020202020204"/>
            </a:endParaRPr>
          </a:p>
        </p:txBody>
      </p:sp>
      <p:pic>
        <p:nvPicPr>
          <p:cNvPr id="4" name="Content Placeholder 3" descr="A screenshot of a computer program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6965" y="1913694"/>
            <a:ext cx="11212129" cy="4487256"/>
          </a:xfrm>
        </p:spPr>
      </p:pic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0" name="Straight Connector 59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 descr="Wrapped present with bow"/>
          <p:cNvPicPr>
            <a:picLocks noChangeAspect="1"/>
          </p:cNvPicPr>
          <p:nvPr/>
        </p:nvPicPr>
        <p:blipFill rotWithShape="1">
          <a:blip r:embed="rId1">
            <a:alphaModFix amt="35000"/>
          </a:blip>
          <a:srcRect t="4375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b="1" dirty="0">
                <a:solidFill>
                  <a:srgbClr val="FFFFFF"/>
                </a:solidFill>
                <a:latin typeface="Garamond" panose="02020404030301010803"/>
              </a:rPr>
              <a:t>THANK YOU</a:t>
            </a:r>
            <a:endParaRPr lang="en-US" sz="8000" b="1" dirty="0">
              <a:solidFill>
                <a:srgbClr val="FFFFFF"/>
              </a:solidFill>
              <a:latin typeface="Garamond" panose="02020404030301010803"/>
            </a:endParaRPr>
          </a:p>
        </p:txBody>
      </p:sp>
      <p:cxnSp>
        <p:nvCxnSpPr>
          <p:cNvPr id="62" name="Straight Connector 61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!!footer rectangl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drap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Arial Nova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ov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4158</Words>
  <Application>WPS Presentation</Application>
  <PresentationFormat>Widescreen</PresentationFormat>
  <Paragraphs>124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Garamond</vt:lpstr>
      <vt:lpstr>Wingdings</vt:lpstr>
      <vt:lpstr>Arial</vt:lpstr>
      <vt:lpstr>Arial Nova</vt:lpstr>
      <vt:lpstr>Microsoft YaHei</vt:lpstr>
      <vt:lpstr>Arial Unicode MS</vt:lpstr>
      <vt:lpstr>Arial Nova Light</vt:lpstr>
      <vt:lpstr>Garamond</vt:lpstr>
      <vt:lpstr>RetrospectVTI</vt:lpstr>
      <vt:lpstr>MULTITHREADING AND PARALLELISM IN JAVA</vt:lpstr>
      <vt:lpstr>AGENDA</vt:lpstr>
      <vt:lpstr>MULTITHREADING</vt:lpstr>
      <vt:lpstr>PARALLELISM</vt:lpstr>
      <vt:lpstr>THREADS</vt:lpstr>
      <vt:lpstr>CREATION AND RUNNING OF THREADS</vt:lpstr>
      <vt:lpstr>ORDERING OF FOOD IN STALLS BY CUSTOMERS (Program Explanation)</vt:lpstr>
      <vt:lpstr>ADVANTAGES OF THE PROJECT</vt:lpstr>
      <vt:lpstr>DISADVANTAGES OF THE PROJECT</vt:lpstr>
      <vt:lpstr>CODE SNIPPET OF THE PROJECT</vt:lpstr>
      <vt:lpstr>PowerPoint 演示文稿</vt:lpstr>
      <vt:lpstr>PowerPoint 演示文稿</vt:lpstr>
      <vt:lpstr>PowerPoint 演示文稿</vt:lpstr>
      <vt:lpstr>OUTPUT OF THE PROJECT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HP</cp:lastModifiedBy>
  <cp:revision>493</cp:revision>
  <dcterms:created xsi:type="dcterms:W3CDTF">2023-11-06T14:01:00Z</dcterms:created>
  <dcterms:modified xsi:type="dcterms:W3CDTF">2023-11-07T22:51:44Z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C1915243290746FAB01FB81B5F16E0F0_13</vt:lpwstr>
  </property>
  <property fmtid="{D5CDD505-2E9C-101B-9397-08002B2CF9AE}" pid="3" name="KSOProductBuildVer">
    <vt:lpwstr>1033-12.2.0.13266</vt:lpwstr>
  </property>
</Properties>
</file>